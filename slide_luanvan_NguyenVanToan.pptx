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822960"/>
            <a:ext cx="2560320" cy="2560320"/>
          </a:xfrm>
          <a:prstGeom prst="ellipse">
            <a:avLst/>
          </a:prstGeom>
          <a:solidFill>
            <a:srgbClr val="2E8BC0">
              <a:alpha val="18000"/>
            </a:srgbClr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3383280"/>
            <a:ext cx="2011680" cy="2011680"/>
          </a:xfrm>
          <a:prstGeom prst="ellipse">
            <a:avLst/>
          </a:prstGeom>
          <a:solidFill>
            <a:srgbClr val="1E6FA5">
              <a:alpha val="22000"/>
            </a:srgbClr>
          </a:solidFill>
          <a:ln w="12700">
            <a:solidFill>
              <a:srgbClr val="1E6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AFD4"/>
                </a:solidFill>
              </a:rPr>
              <a:t>TRƯỜNG ĐẠI HỌC NAM CẦN THƠ  •  KHOA CÔNG NGHỆ THÔNG TIN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8229600" cy="2514600"/>
          </a:xfrm>
          <a:prstGeom prst="roundRect">
            <a:avLst>
              <a:gd name="adj" fmla="val 4364"/>
            </a:avLst>
          </a:prstGeom>
          <a:solidFill>
            <a:srgbClr val="1A3A7C">
              <a:alpha val="65000"/>
            </a:srgbClr>
          </a:solidFill>
          <a:ln w="12700">
            <a:solidFill>
              <a:srgbClr val="2E5B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49808"/>
            <a:ext cx="8046720" cy="24323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XÂY DỰNG HỆ THỐNG TƯ VẤN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VÀ LẬP KẾ HOẠCH HỌC TẬP CÁ NHÂN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CHO SINH VIÊN NGÀNH CÔNG NGHỆ THÔNG TIN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33101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B0D8"/>
                </a:solidFill>
              </a:rPr>
              <a:t>KHÓA LUẬN TỐT NGHIỆP ĐẠI HỌC  —  NGÀNH KỸ THUẬT PHẦN MỀM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70332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1A3060"/>
          </a:solidFill>
          <a:ln w="6350">
            <a:solidFill>
              <a:srgbClr val="2E5B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3776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FD4"/>
                </a:solidFill>
              </a:rPr>
              <a:t>Sinh viên thực hiện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40690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NGUYỄN VĂN TOÀN  |  MSSV: 224074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370332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1A3060"/>
          </a:solidFill>
          <a:ln w="6350">
            <a:solidFill>
              <a:srgbClr val="2E5B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3776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FD4"/>
                </a:solidFill>
              </a:rPr>
              <a:t>Giáo viên hướng dẫn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73168" y="40690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ThS. LÊ THANH TRÚC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8AAE"/>
                </a:solidFill>
              </a:rPr>
              <a:t>Tháng 06 /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2951"/>
                </a:solidFill>
              </a:rPr>
              <a:t>NỘI DUNG TRÌNH BÀY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83210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4E3F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969264"/>
            <a:ext cx="457200" cy="457200"/>
          </a:xfrm>
          <a:prstGeom prst="ellipse">
            <a:avLst/>
          </a:prstGeom>
          <a:solidFill>
            <a:srgbClr val="2E8BC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9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" y="89611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951"/>
                </a:solidFill>
              </a:rPr>
              <a:t>Tổng quan đề tài nghiên cứu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21615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A"/>
                </a:solidFill>
              </a:rPr>
              <a:t>Bối cảnh, lý do, mục tiêu, phạm vi nghiên cứu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645920"/>
            <a:ext cx="8321040" cy="694944"/>
          </a:xfrm>
          <a:prstGeom prst="roundRect">
            <a:avLst>
              <a:gd name="adj" fmla="val 10526"/>
            </a:avLst>
          </a:prstGeom>
          <a:solidFill>
            <a:srgbClr val="E3EEFF"/>
          </a:solidFill>
          <a:ln w="6350">
            <a:solidFill>
              <a:srgbClr val="D4E3F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764792"/>
            <a:ext cx="457200" cy="457200"/>
          </a:xfrm>
          <a:prstGeom prst="ellipse">
            <a:avLst/>
          </a:prstGeom>
          <a:solidFill>
            <a:srgbClr val="2E8BC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3000" y="169164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951"/>
                </a:solidFill>
              </a:rPr>
              <a:t>Cơ sở lý thuyết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01168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A"/>
                </a:solidFill>
              </a:rPr>
              <a:t>Rule-Based System, Topological Sort, Công thức Scoring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441448"/>
            <a:ext cx="83210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4E3F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2E8BC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248716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951"/>
                </a:solidFill>
              </a:rPr>
              <a:t>Phân tích và Thiết kế hệ thống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280720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A"/>
                </a:solidFill>
              </a:rPr>
              <a:t>Chức năng, kiến trúc, cơ sở dữ liệu, sơ đồ tuần tự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3236976"/>
            <a:ext cx="8321040" cy="694944"/>
          </a:xfrm>
          <a:prstGeom prst="roundRect">
            <a:avLst>
              <a:gd name="adj" fmla="val 10526"/>
            </a:avLst>
          </a:prstGeom>
          <a:solidFill>
            <a:srgbClr val="E3EEFF"/>
          </a:solidFill>
          <a:ln w="6350">
            <a:solidFill>
              <a:srgbClr val="D4E3F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355848"/>
            <a:ext cx="457200" cy="457200"/>
          </a:xfrm>
          <a:prstGeom prst="ellipse">
            <a:avLst/>
          </a:prstGeom>
          <a:solidFill>
            <a:srgbClr val="2E8BC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328269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951"/>
                </a:solidFill>
              </a:rPr>
              <a:t>Kết quả đạt được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60273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A"/>
                </a:solidFill>
              </a:rPr>
              <a:t>Giao diện sinh viên, quản trị viên, kết quả nổi bật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4032504"/>
            <a:ext cx="83210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4E3F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4151376"/>
            <a:ext cx="457200" cy="457200"/>
          </a:xfrm>
          <a:prstGeom prst="ellipse">
            <a:avLst/>
          </a:prstGeom>
          <a:solidFill>
            <a:srgbClr val="2E8BC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43000" y="4078224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951"/>
                </a:solidFill>
              </a:rPr>
              <a:t>Kiểm thử, Đánh giá và Kết luận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3000" y="43982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A"/>
                </a:solidFill>
              </a:rPr>
              <a:t>100% kịch bản kiểm thử đạt, ưu/nhược điểm, hướng phát triển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737360"/>
            <a:ext cx="1005840" cy="1005840"/>
          </a:xfrm>
          <a:prstGeom prst="ellipse">
            <a:avLst/>
          </a:prstGeom>
          <a:solidFill>
            <a:srgbClr val="2E8BC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737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91640" y="169164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TỔNG QUAN ĐỀ TÀI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91640" y="28803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0B4D6"/>
                </a:solidFill>
              </a:rPr>
              <a:t>Bối cảnh  •  Lý do chọn đề tài  •  Mục tiêu  •  Phạm vi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951"/>
                </a:solidFill>
              </a:rPr>
              <a:t>BỐI CẢNH VÀ VẤN ĐỀ NGHIÊN CỨU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4389120" cy="4005072"/>
          </a:xfrm>
          <a:prstGeom prst="roundRect">
            <a:avLst>
              <a:gd name="adj" fmla="val 2283"/>
            </a:avLst>
          </a:prstGeom>
          <a:solidFill>
            <a:srgbClr val="FFFFFF"/>
          </a:solidFill>
          <a:ln w="6350">
            <a:solidFill>
              <a:srgbClr val="D4E3F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8412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FA5"/>
                </a:solidFill>
              </a:rPr>
              <a:t>Bối cảnh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243584"/>
            <a:ext cx="4114800" cy="3383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951"/>
                </a:solidFill>
              </a:rPr>
              <a:t>Cách mạng CN 4.0: CNTT là lĩnh vực then chốt, nhu cầu nhân lực cao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951"/>
                </a:solidFill>
              </a:rPr>
              <a:t>Đào tạo tín chỉ: sinh viên tự xây dựng kế hoạch học tập — linh hoạt nhưng dễ nhầm lẫn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951"/>
                </a:solidFill>
              </a:rPr>
              <a:t>Thực trạng: nhiều SV chưa hiểu ràng buộc tiên quyết, chưa lập được lộ trình dài hạn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951"/>
                </a:solidFill>
              </a:rPr>
              <a:t>Xu hướng: công nghệ phần mềm mở ra hướng giải quyết mới cho bài toán tư vấn học tập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37760" y="749808"/>
            <a:ext cx="3840480" cy="1664208"/>
          </a:xfrm>
          <a:prstGeom prst="roundRect">
            <a:avLst>
              <a:gd name="adj" fmla="val 5495"/>
            </a:avLst>
          </a:prstGeom>
          <a:solidFill>
            <a:srgbClr val="FFF3CD"/>
          </a:solidFill>
          <a:ln w="6350">
            <a:solidFill>
              <a:srgbClr val="F0C04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02352" y="84124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000"/>
                </a:solidFill>
              </a:rPr>
              <a:t>Vấn đề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02352" y="1188720"/>
            <a:ext cx="3520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3A00"/>
                </a:solidFill>
              </a:rPr>
              <a:t>Tư vấn học tập hiện tại qua cố vấn — không thể cá nhân hóa cho số lượng lớn sinh viên, thiếu công cụ theo dõi tiến độ tự động.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37760" y="2523744"/>
            <a:ext cx="3840480" cy="2231136"/>
          </a:xfrm>
          <a:prstGeom prst="roundRect">
            <a:avLst>
              <a:gd name="adj" fmla="val 4098"/>
            </a:avLst>
          </a:prstGeom>
          <a:solidFill>
            <a:srgbClr val="E3EEFF"/>
          </a:solidFill>
          <a:ln w="6350">
            <a:solidFill>
              <a:srgbClr val="A0C0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02352" y="261518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7C"/>
                </a:solidFill>
              </a:rPr>
              <a:t>Giải pháp đề xuất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02352" y="2980944"/>
            <a:ext cx="3547872" cy="1664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951"/>
                </a:solidFill>
              </a:rPr>
              <a:t>Gợi ý môn học thông minh theo từng học kỳ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951"/>
                </a:solidFill>
              </a:rPr>
              <a:t>Lập kế hoạch học tập cá nhân hóa tự động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951"/>
                </a:solidFill>
              </a:rPr>
              <a:t>Theo dõi tiến độ tích lũy tín chỉ trực quan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951"/>
                </a:solidFill>
              </a:rPr>
              <a:t>Cảnh báo học vụ kịp thời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951"/>
                </a:solidFill>
              </a:rPr>
              <a:t>MỤC TIÊU NGHIÊN CỨU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4E3F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12064" y="914400"/>
            <a:ext cx="457200" cy="457200"/>
          </a:xfrm>
          <a:prstGeom prst="ellipse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5568" y="8686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951"/>
                </a:solidFill>
              </a:rPr>
              <a:t>Nghiên cứu cơ sở lý luận về tư vấn học tập, lập kế hoạch cá nhân và hệ thống dựa trên luật trong giáo dục đại học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8412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4E3F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12064" y="1764792"/>
            <a:ext cx="457200" cy="457200"/>
          </a:xfrm>
          <a:prstGeom prst="ellipse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15568" y="171907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951"/>
                </a:solidFill>
              </a:rPr>
              <a:t>Khảo sát thực trạng, xác định đầy đủ yêu cầu chức năng và phi chức năng của hệ thống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478024"/>
            <a:ext cx="8412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4E3F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2064" y="2615184"/>
            <a:ext cx="457200" cy="457200"/>
          </a:xfrm>
          <a:prstGeom prst="ellipse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15568" y="256946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951"/>
                </a:solidFill>
              </a:rPr>
              <a:t>Mã hóa quy định học vụ, quan hệ tiên quyết thành tập luật tư vấn học tập — thành phần cốt lõi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328416"/>
            <a:ext cx="8412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4E3F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2064" y="3465576"/>
            <a:ext cx="457200" cy="457200"/>
          </a:xfrm>
          <a:prstGeom prst="ellipse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341985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951"/>
                </a:solidFill>
              </a:rPr>
              <a:t>Phân tích yêu cầu, thiết kế kiến trúc hệ thống, mô hình cơ sở dữ liệu và các thành phần phần mềm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178808"/>
            <a:ext cx="8412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4E3F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2064" y="4315968"/>
            <a:ext cx="457200" cy="457200"/>
          </a:xfrm>
          <a:prstGeom prst="ellipse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15568" y="427024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951"/>
                </a:solidFill>
              </a:rPr>
              <a:t>Xây dựng và kiểm thử: gợi ý môn học, lập kế hoạch, theo dõi tiến độ, cảnh báo học vụ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737360"/>
            <a:ext cx="1005840" cy="1005840"/>
          </a:xfrm>
          <a:prstGeom prst="ellipse">
            <a:avLst/>
          </a:prstGeom>
          <a:solidFill>
            <a:srgbClr val="2E8BC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737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91640" y="169164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CƠ SỞ LÝ THUYẾT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91640" y="28803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0B4D6"/>
                </a:solidFill>
              </a:rPr>
              <a:t>Rule-Based System  •  Topological Sort  •  Scoring Function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951"/>
                </a:solidFill>
              </a:rPr>
              <a:t>HỆ THỐNG TƯ VẤN DỰA TRÊN LUẬT (RULE-BASED)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E3EEFF"/>
          </a:solidFill>
          <a:ln w="6350">
            <a:solidFill>
              <a:srgbClr val="A0C0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7C"/>
                </a:solidFill>
              </a:rPr>
              <a:t>Cấu trúc luật: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03120" y="822960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9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 [điều kiện: GPA / tiến độ / trạng thái học phần]  THEN  [hành động tư vấn]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1521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9A"/>
                </a:solidFill>
              </a:rPr>
              <a:t>Ưu điểm: minh bạch, giải thích được, triển khai ngay khi dữ liệu lịch sử còn hạn chế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E8F5E9"/>
          </a:solidFill>
          <a:ln w="762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8288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951"/>
                </a:solidFill>
              </a:rPr>
              <a:t>Phân loại học lực theo GPA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951"/>
                </a:solidFill>
              </a:rPr>
              <a:t>GPA ≥ 3.6 → Giỏi  |  3.2–3.59 → Khá  |  2.5–3.19 → TB-Khá  |  2.0–2.49 → TB  |  &lt; 2.0 → Yếu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719072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FFF8E1"/>
          </a:solidFill>
          <a:ln w="7620">
            <a:solidFill>
              <a:srgbClr val="FFCC8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8288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951"/>
                </a:solidFill>
              </a:rPr>
              <a:t>Đánh giá tiến độ tích lũy tín chỉ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219456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951"/>
                </a:solidFill>
              </a:rPr>
              <a:t>So sánh tỉ lệ TC đã tích lũy với chuẩn từng học kỳ → phân loại: đúng tiến độ / chậm / rất chậm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200400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FCE4EC"/>
          </a:solidFill>
          <a:ln w="7620">
            <a:solidFill>
              <a:srgbClr val="F48FB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310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951"/>
                </a:solidFill>
              </a:rPr>
              <a:t>Ưu tiên học lại môn rớt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67588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951"/>
                </a:solidFill>
              </a:rPr>
              <a:t>Học phần đã từng đăng ký nhưng chưa đạt → nhận trọng số ưu tiên cao nhất trong tất cả các gợi ý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200400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E3F2FD"/>
          </a:solidFill>
          <a:ln w="7620">
            <a:solidFill>
              <a:srgbClr val="90CAF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3310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951"/>
                </a:solidFill>
              </a:rPr>
              <a:t>Giới hạn khối lượng tín chỉ mỗi kỳ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367588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951"/>
                </a:solidFill>
              </a:rPr>
              <a:t>Kiểm tra ràng buộc tối đa / tối thiểu tín chỉ theo quy định học vụ và mức GPA hiện tại của SV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951"/>
                </a:solidFill>
              </a:rPr>
              <a:t>LẬP KẾ HOẠCH HỌC TẬP — TOPOLOGICAL SORT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207008"/>
          </a:xfrm>
          <a:prstGeom prst="roundRect">
            <a:avLst>
              <a:gd name="adj" fmla="val 7576"/>
            </a:avLst>
          </a:prstGeom>
          <a:solidFill>
            <a:srgbClr val="E3F2FD"/>
          </a:solidFill>
          <a:ln w="10160">
            <a:solidFill>
              <a:srgbClr val="64B5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66928" y="1088136"/>
            <a:ext cx="585216" cy="585216"/>
          </a:xfrm>
          <a:prstGeom prst="ellipse">
            <a:avLst/>
          </a:prstGeom>
          <a:solidFill>
            <a:srgbClr val="2E8BC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8813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868680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951"/>
                </a:solidFill>
              </a:rPr>
              <a:t>Xây dựng đồ thị DAG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271016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951"/>
                </a:solidFill>
              </a:rPr>
              <a:t>Mỗi học phần là đỉnh. Quan hệ tiên quyết A→B là cạnh có hướng. Đồ thị không có chu trình (DAG).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30552"/>
            <a:ext cx="8412480" cy="1207008"/>
          </a:xfrm>
          <a:prstGeom prst="roundRect">
            <a:avLst>
              <a:gd name="adj" fmla="val 7576"/>
            </a:avLst>
          </a:prstGeom>
          <a:solidFill>
            <a:srgbClr val="E8F5E9"/>
          </a:solidFill>
          <a:ln w="10160">
            <a:solidFill>
              <a:srgbClr val="81C784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2441448"/>
            <a:ext cx="585216" cy="585216"/>
          </a:xfrm>
          <a:prstGeom prst="ellipse">
            <a:avLst/>
          </a:prstGeom>
          <a:solidFill>
            <a:srgbClr val="2E8BC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4414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221992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951"/>
                </a:solidFill>
              </a:rPr>
              <a:t>Sắp xếp tô-pô có điểm ưu tiên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624328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951"/>
                </a:solidFill>
              </a:rPr>
              <a:t>Mỗi học kỳ: chỉ môn có bậc vào = 0 mới hợp lệ. Tính điểm ưu tiên (rớt môn, bắt buộc, phong tỏa, định hướng, khoảng cách kỳ) để chọn môn tốt nhất.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483864"/>
            <a:ext cx="8412480" cy="1207008"/>
          </a:xfrm>
          <a:prstGeom prst="roundRect">
            <a:avLst>
              <a:gd name="adj" fmla="val 7576"/>
            </a:avLst>
          </a:prstGeom>
          <a:solidFill>
            <a:srgbClr val="FFF3E0"/>
          </a:solidFill>
          <a:ln w="10160">
            <a:solidFill>
              <a:srgbClr val="FFB74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6928" y="3794760"/>
            <a:ext cx="585216" cy="585216"/>
          </a:xfrm>
          <a:prstGeom prst="ellipse">
            <a:avLst/>
          </a:prstGeom>
          <a:solidFill>
            <a:srgbClr val="2E8BC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794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575304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951"/>
                </a:solidFill>
              </a:rPr>
              <a:t>Phân bổ theo chiến lược tham lam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977640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951"/>
                </a:solidFill>
              </a:rPr>
              <a:t>Lần lượt thêm môn vào học kỳ theo thứ tự ưu tiên giảm dần cho đến khi đạt giới hạn tín chỉ tối đa cho phép.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663440"/>
            <a:ext cx="8412480" cy="347472"/>
          </a:xfrm>
          <a:prstGeom prst="roundRect">
            <a:avLst>
              <a:gd name="adj" fmla="val 15789"/>
            </a:avLst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Kết quả: Kế hoạch cá nhân hóa thỏa mãn ràng buộc tiên quyết, song hành, giới hạn tín chỉ và thứ tự ưu tiên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951"/>
                </a:solidFill>
              </a:rPr>
              <a:t>CÔNG THỨC GỢI Ý MÔN HỌC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676656"/>
          </a:xfrm>
          <a:prstGeom prst="roundRect">
            <a:avLst>
              <a:gd name="adj" fmla="val 13514"/>
            </a:avLst>
          </a:prstGeom>
          <a:solidFill>
            <a:srgbClr val="0D1B3E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49808"/>
            <a:ext cx="8229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Score(s) = w1·F(s) + w2·M(s) + w3·B(s) + w4·A(s) + w5·D(s)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536192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CE4EC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60934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F(s)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627632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951"/>
                </a:solidFill>
              </a:rPr>
              <a:t>Trạng thái rớt môn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99339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951"/>
                </a:solidFill>
              </a:rPr>
              <a:t>= 1 nếu đã từng đăng ký nhưng chưa đạt. Trọng số cao nhất — ưu tiên giải quyết nợ môn trước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536192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3E0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60934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M(s)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760720" y="1627632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951"/>
                </a:solidFill>
              </a:rPr>
              <a:t>Tính bắt buộc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99339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951"/>
                </a:solidFill>
              </a:rPr>
              <a:t>= 1 nếu là môn bắt buộc hoặc có điều kiện nhóm kiến thức — đảm bảo các môn cốt lõi được ưu tiên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E8F5E9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9077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B(s)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292608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951"/>
                </a:solidFill>
              </a:rPr>
              <a:t>Số môn bị phong tỏa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2918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951"/>
                </a:solidFill>
              </a:rPr>
              <a:t>Số môn chưa đăng ký mà s là tiên quyết trực tiếp — ưu tiên môn mở khóa nhiều môn nhất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83464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E3F2FD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29077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A(s)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760720" y="292608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951"/>
                </a:solidFill>
              </a:rPr>
              <a:t>Phù hợp định hướng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32918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951"/>
                </a:solidFill>
              </a:rPr>
              <a:t>= 1 nếu thuộc nhóm kỹ năng tương ứng định hướng chuyên ngành sinh viên đã chọn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133088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3E5F5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42062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D(s)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00200" y="422452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951"/>
                </a:solidFill>
              </a:rPr>
              <a:t>Khoảng cách học kỳ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459028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951"/>
                </a:solidFill>
              </a:rPr>
              <a:t>Phạt (âm) khi môn bị trễ so với học kỳ chuẩn — cơ chế tự sửa tiến độ học tập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737360"/>
            <a:ext cx="1005840" cy="1005840"/>
          </a:xfrm>
          <a:prstGeom prst="ellipse">
            <a:avLst/>
          </a:prstGeom>
          <a:solidFill>
            <a:srgbClr val="2E8BC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737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91640" y="169164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PHÂN TÍCH VÀ THIẾT KẾ HỆ THỐNG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91640" y="28803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0B4D6"/>
                </a:solidFill>
              </a:rPr>
              <a:t>Chức năng  •  Kiến trúc  •  Cơ sở dữ liệu  •  Sơ đồ tuần tự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951"/>
                </a:solidFill>
              </a:rPr>
              <a:t>CHỨC NĂNG HỆ THỐNG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4160520" cy="420624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6350">
            <a:solidFill>
              <a:srgbClr val="D4E3F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749808"/>
            <a:ext cx="4160520" cy="475488"/>
          </a:xfrm>
          <a:prstGeom prst="roundRect">
            <a:avLst>
              <a:gd name="adj" fmla="val 19231"/>
            </a:avLst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68096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SINH VIÊN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1316736"/>
            <a:ext cx="3886200" cy="3520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951"/>
                </a:solidFill>
              </a:rPr>
              <a:t>Đăng nhập &amp; cấu hình ban đầu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951"/>
                </a:solidFill>
              </a:rPr>
              <a:t>Xem Dashboard tổng quan học tập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951"/>
                </a:solidFill>
              </a:rPr>
              <a:t>Lập kế hoạch học tập tự động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951"/>
                </a:solidFill>
              </a:rPr>
              <a:t>Tư vấn môn học học kỳ tiếp theo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951"/>
                </a:solidFill>
              </a:rPr>
              <a:t>Nhập &amp; quản lý kết quả học tập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951"/>
                </a:solidFill>
              </a:rPr>
              <a:t>Xem phân tích tiến độ trực quan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951"/>
                </a:solidFill>
              </a:rPr>
              <a:t>Nhận cảnh báo học vụ kịp thời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749808"/>
            <a:ext cx="4160520" cy="420624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6350">
            <a:solidFill>
              <a:srgbClr val="D4E3F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749808"/>
            <a:ext cx="4160520" cy="475488"/>
          </a:xfrm>
          <a:prstGeom prst="roundRect">
            <a:avLst>
              <a:gd name="adj" fmla="val 19231"/>
            </a:avLst>
          </a:prstGeom>
          <a:solidFill>
            <a:srgbClr val="1E6FA5"/>
          </a:solidFill>
          <a:ln w="12700">
            <a:solidFill>
              <a:srgbClr val="1E6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768096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QUẢN TRỊ VIÊN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28032" y="1316736"/>
            <a:ext cx="3886200" cy="3520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951"/>
                </a:solidFill>
              </a:rPr>
              <a:t>Quản lý môn học &amp; quan hệ tiên quyết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951"/>
                </a:solidFill>
              </a:rPr>
              <a:t>Quản lý chương trình đào tạo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951"/>
                </a:solidFill>
              </a:rPr>
              <a:t>Quản lý nhóm chương trình (Program Group)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951"/>
                </a:solidFill>
              </a:rPr>
              <a:t>Quản lý nhóm kỹ năng (Skill Group)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951"/>
                </a:solidFill>
              </a:rPr>
              <a:t>Phân công môn học vào chương trình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951"/>
                </a:solidFill>
              </a:rPr>
              <a:t>Quản lý tài khoản người dùng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951"/>
                </a:solidFill>
              </a:rPr>
              <a:t>Xem báo cáo và thống kê hệ thống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951"/>
                </a:solidFill>
              </a:rPr>
              <a:t>KIẾN TRÚC HỆ THỐNG VÀ CƠ SỞ DỮ LIỆU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6350">
            <a:solidFill>
              <a:srgbClr val="D4E3F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85953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7C"/>
                </a:solidFill>
              </a:rPr>
              <a:t>Kiến trúc 3 tầng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4663440" cy="1024128"/>
          </a:xfrm>
          <a:prstGeom prst="roundRect">
            <a:avLst>
              <a:gd name="adj" fmla="val 7143"/>
            </a:avLst>
          </a:prstGeom>
          <a:solidFill>
            <a:srgbClr val="E3F2FD"/>
          </a:solidFill>
          <a:ln w="10160">
            <a:solidFill>
              <a:srgbClr val="90CA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716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951"/>
                </a:solidFill>
              </a:rPr>
              <a:t>Presentation Layer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37560" y="137160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6FA5"/>
                </a:solidFill>
              </a:rPr>
              <a:t>React.js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171907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951"/>
                </a:solidFill>
              </a:rPr>
              <a:t>Giao diện web cho sinh viên và quản trị viên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80360" y="2340864"/>
            <a:ext cx="0" cy="164592"/>
          </a:xfrm>
          <a:prstGeom prst="line">
            <a:avLst/>
          </a:prstGeom>
          <a:noFill/>
          <a:ln w="19050">
            <a:solidFill>
              <a:srgbClr val="2E8B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487168"/>
            <a:ext cx="4663440" cy="1024128"/>
          </a:xfrm>
          <a:prstGeom prst="roundRect">
            <a:avLst>
              <a:gd name="adj" fmla="val 7143"/>
            </a:avLst>
          </a:prstGeom>
          <a:solidFill>
            <a:srgbClr val="E8F5E9"/>
          </a:solidFill>
          <a:ln w="10160">
            <a:solidFill>
              <a:srgbClr val="A5D6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5603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951"/>
                </a:solidFill>
              </a:rPr>
              <a:t>Business Logic Layer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256032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6FA5"/>
                </a:solidFill>
              </a:rPr>
              <a:t>Laravel (PHP)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" y="290779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951"/>
                </a:solidFill>
              </a:rPr>
              <a:t>Rule Engine, Lập kế hoạch, Scoring Function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80360" y="3529584"/>
            <a:ext cx="0" cy="164592"/>
          </a:xfrm>
          <a:prstGeom prst="line">
            <a:avLst/>
          </a:prstGeom>
          <a:noFill/>
          <a:ln w="19050">
            <a:solidFill>
              <a:srgbClr val="2E8B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675888"/>
            <a:ext cx="4663440" cy="1024128"/>
          </a:xfrm>
          <a:prstGeom prst="roundRect">
            <a:avLst>
              <a:gd name="adj" fmla="val 7143"/>
            </a:avLst>
          </a:prstGeom>
          <a:solidFill>
            <a:srgbClr val="FFF3E0"/>
          </a:solidFill>
          <a:ln w="10160">
            <a:solidFill>
              <a:srgbClr val="FFCC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7490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951"/>
                </a:solidFill>
              </a:rPr>
              <a:t>Data Layer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37560" y="374904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6FA5"/>
                </a:solidFill>
              </a:rPr>
              <a:t>MySQL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" y="40965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951"/>
                </a:solidFill>
              </a:rPr>
              <a:t>17 bảng dữ liệu, quan hệ ràng buộc đầy đủ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0" y="749808"/>
            <a:ext cx="3108960" cy="42062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6350">
            <a:solidFill>
              <a:srgbClr val="D4E3F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33872" y="859536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7C"/>
                </a:solidFill>
              </a:rPr>
              <a:t>Các bảng CSDL chính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33872" y="1298448"/>
            <a:ext cx="2834640" cy="3520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951"/>
                </a:solidFill>
              </a:rPr>
              <a:t>Subject / Subject_Relation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951"/>
                </a:solidFill>
              </a:rPr>
              <a:t>Training_Program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951"/>
                </a:solidFill>
              </a:rPr>
              <a:t>Curriculum_Framework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951"/>
                </a:solidFill>
              </a:rPr>
              <a:t>Program_Group / Skill_Group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951"/>
                </a:solidFill>
              </a:rPr>
              <a:t>Study_Plan / Study_Plan_Subjects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951"/>
                </a:solidFill>
              </a:rPr>
              <a:t>Semester_History / _Item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951"/>
                </a:solidFill>
              </a:rPr>
              <a:t>User / Warning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951"/>
                </a:solidFill>
              </a:rPr>
              <a:t>Class / Major / Faculty / Cohort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737360"/>
            <a:ext cx="1005840" cy="1005840"/>
          </a:xfrm>
          <a:prstGeom prst="ellipse">
            <a:avLst/>
          </a:prstGeom>
          <a:solidFill>
            <a:srgbClr val="2E8BC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737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91640" y="169164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KẾT QUẢ ĐẠT ĐƯỢC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91640" y="28803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0B4D6"/>
                </a:solidFill>
              </a:rPr>
              <a:t>Giao diện sinh viên  •  Quản trị viên  •  Đánh giá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951"/>
                </a:solidFill>
              </a:rPr>
              <a:t>GIAO DIỆN DÀNH CHO SINH VIÊN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68096"/>
            <a:ext cx="4114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D4E3F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877824"/>
            <a:ext cx="457200" cy="457200"/>
          </a:xfrm>
          <a:prstGeom prst="ellipse">
            <a:avLst/>
          </a:prstGeom>
          <a:solidFill>
            <a:srgbClr val="2E8BC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77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85953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7C"/>
                </a:solidFill>
              </a:rPr>
              <a:t>Dashboard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225296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951"/>
                </a:solidFill>
              </a:rPr>
              <a:t>Tổng quan GPA, tín chỉ tích lũy và tiến độ hoàn thành chương trình đào tạo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768096"/>
            <a:ext cx="4114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D4E3F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877824"/>
            <a:ext cx="457200" cy="457200"/>
          </a:xfrm>
          <a:prstGeom prst="ellipse">
            <a:avLst/>
          </a:prstGeom>
          <a:solidFill>
            <a:srgbClr val="2E8BC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877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94960" y="85953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7C"/>
                </a:solidFill>
              </a:rPr>
              <a:t>Cấu hình ban đầu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94960" y="1225296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951"/>
                </a:solidFill>
              </a:rPr>
              <a:t>Chọn chương trình đào tạo và định hướng chuyên ngành khi đăng nhập lần đầu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212848"/>
            <a:ext cx="4114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D4E3F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322576"/>
            <a:ext cx="457200" cy="457200"/>
          </a:xfrm>
          <a:prstGeom prst="ellipse">
            <a:avLst/>
          </a:prstGeom>
          <a:solidFill>
            <a:srgbClr val="2E8BC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230428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7C"/>
                </a:solidFill>
              </a:rPr>
              <a:t>Lập kế hoạch học tập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670048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951"/>
                </a:solidFill>
              </a:rPr>
              <a:t>Tự động sinh kế hoạch từng học kỳ dựa trên topological sort và trạng thái thực tế của sinh viên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212848"/>
            <a:ext cx="4114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D4E3F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322576"/>
            <a:ext cx="457200" cy="457200"/>
          </a:xfrm>
          <a:prstGeom prst="ellipse">
            <a:avLst/>
          </a:prstGeom>
          <a:solidFill>
            <a:srgbClr val="2E8BC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94960" y="230428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7C"/>
                </a:solidFill>
              </a:rPr>
              <a:t>Tư vấn sau khi có điểm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94960" y="2670048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951"/>
                </a:solidFill>
              </a:rPr>
              <a:t>Gợi ý danh sách môn ưu tiên học kỳ tiếp theo dựa trên scoring function 5 thành phần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657600"/>
            <a:ext cx="4114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D4E3F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3767328"/>
            <a:ext cx="457200" cy="457200"/>
          </a:xfrm>
          <a:prstGeom prst="ellipse">
            <a:avLst/>
          </a:prstGeom>
          <a:solidFill>
            <a:srgbClr val="2E8BC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" y="37490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7C"/>
                </a:solidFill>
              </a:rPr>
              <a:t>Phân tích tiến độ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4114800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951"/>
                </a:solidFill>
              </a:rPr>
              <a:t>Biểu đồ trực quan tín chỉ đã tích lũy, còn thiếu và khả năng tốt nghiệp đúng hạn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3657600"/>
            <a:ext cx="4114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D4E3F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3767328"/>
            <a:ext cx="457200" cy="457200"/>
          </a:xfrm>
          <a:prstGeom prst="ellipse">
            <a:avLst/>
          </a:prstGeom>
          <a:solidFill>
            <a:srgbClr val="2E8BC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94960" y="37490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7C"/>
                </a:solidFill>
              </a:rPr>
              <a:t>Cảnh báo học vụ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94960" y="4114800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951"/>
                </a:solidFill>
              </a:rPr>
              <a:t>Thông báo khi GPA thấp, chậm tiến độ hoặc có nguy cơ không đủ điều kiện tốt nghiệp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951"/>
                </a:solidFill>
              </a:rPr>
              <a:t>KẾT QUẢ NỔI BẬT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68096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E3F2FD"/>
          </a:solidFill>
          <a:ln w="6350">
            <a:solidFill>
              <a:srgbClr val="D4E3F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82296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3A7C"/>
                </a:solidFill>
              </a:rPr>
              <a:t>17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951"/>
                </a:solidFill>
              </a:rPr>
              <a:t>Bảng dữ liệu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768096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E8F5E9"/>
          </a:solidFill>
          <a:ln w="6350">
            <a:solidFill>
              <a:srgbClr val="D4E3F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82296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3A7C"/>
                </a:solidFill>
              </a:rPr>
              <a:t>100%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200400" y="146304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951"/>
                </a:solidFill>
              </a:rPr>
              <a:t>Kiểm thử đạt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768096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3E0"/>
          </a:solidFill>
          <a:ln w="6350">
            <a:solidFill>
              <a:srgbClr val="D4E3F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0" y="82296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3A7C"/>
                </a:solidFill>
              </a:rPr>
              <a:t>9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035040" y="146304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951"/>
                </a:solidFill>
              </a:rPr>
              <a:t>Nhóm chức năng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304288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E3F2FD"/>
          </a:solidFill>
          <a:ln w="6350">
            <a:solidFill>
              <a:srgbClr val="D4E3F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487168"/>
            <a:ext cx="457200" cy="457200"/>
          </a:xfrm>
          <a:prstGeom prst="ellipse">
            <a:avLst/>
          </a:prstGeom>
          <a:solidFill>
            <a:srgbClr val="2E8BC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36829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951"/>
                </a:solidFill>
              </a:rPr>
              <a:t>Kế hoạch học tập tự động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49040" y="2368296"/>
            <a:ext cx="4892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951"/>
                </a:solidFill>
              </a:rPr>
              <a:t>Tự sinh kế hoạch từng học kỳ bằng topological sort — thỏa mãn đồng thời ràng buộc tiên quyết, song hành, giới hạn tín chỉ và thứ tự ưu tiên cá nhân hóa.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236976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E8F5E9"/>
          </a:solidFill>
          <a:ln w="6350">
            <a:solidFill>
              <a:srgbClr val="D4E3F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419856"/>
            <a:ext cx="457200" cy="457200"/>
          </a:xfrm>
          <a:prstGeom prst="ellipse">
            <a:avLst/>
          </a:prstGeom>
          <a:solidFill>
            <a:srgbClr val="2E8BC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5568" y="330098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951"/>
                </a:solidFill>
              </a:rPr>
              <a:t>Gợi ý môn học thông minh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49040" y="3300984"/>
            <a:ext cx="4892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951"/>
                </a:solidFill>
              </a:rPr>
              <a:t>Hàm scoring 5 thành phần gợi ý danh sách môn ưu tiên — ưu tiên môn rớt, môn bắt buộc và môn mở khóa nhiều phụ thuộc nhất theo định hướng chuyên ngành.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169664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FF3E0"/>
          </a:solidFill>
          <a:ln w="6350">
            <a:solidFill>
              <a:srgbClr val="D4E3F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4352544"/>
            <a:ext cx="457200" cy="457200"/>
          </a:xfrm>
          <a:prstGeom prst="ellipse">
            <a:avLst/>
          </a:prstGeom>
          <a:solidFill>
            <a:srgbClr val="2E8BC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15568" y="42336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951"/>
                </a:solidFill>
              </a:rPr>
              <a:t>Kiến trúc linh hoạt, mở rộng được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749040" y="4233672"/>
            <a:ext cx="4892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951"/>
                </a:solidFill>
              </a:rPr>
              <a:t>Toàn bộ chương trình đào tạo được dữ liệu hóa — hệ thống không gắn với ngành cụ thể, có thể mở rộng sang các ngành hoặc cơ sở đào tạo khác.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737360"/>
            <a:ext cx="1005840" cy="1005840"/>
          </a:xfrm>
          <a:prstGeom prst="ellipse">
            <a:avLst/>
          </a:prstGeom>
          <a:solidFill>
            <a:srgbClr val="2E8BC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737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91640" y="169164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KIỂM THỬ VÀ ĐÁNH GIÁ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91640" y="28803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0B4D6"/>
                </a:solidFill>
              </a:rPr>
              <a:t>20 kịch bản kiểm thử  •  Ưu điểm  •  Nhược điểm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951"/>
                </a:solidFill>
              </a:rPr>
              <a:t>KIỂM THỬ VÀ ĐÁNH GIÁ HỆ THỐNG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4980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Kiểm thử 20 kịch bản đại diện cho các nhóm chức năng chính — Kết quả: 20/20 đạt yêu cầu (100%)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4160520" cy="3291840"/>
          </a:xfrm>
          <a:prstGeom prst="roundRect">
            <a:avLst>
              <a:gd name="adj" fmla="val 2778"/>
            </a:avLst>
          </a:prstGeom>
          <a:solidFill>
            <a:srgbClr val="E8F5E9"/>
          </a:solidFill>
          <a:ln w="635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7373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7D56"/>
                </a:solidFill>
              </a:rPr>
              <a:t>Ưu điểm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" y="2157984"/>
            <a:ext cx="388620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4332"/>
                </a:solidFill>
              </a:rPr>
              <a:t>Minh bạch — luật tư vấn có thể giải thích rõ ràng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4332"/>
                </a:solidFill>
              </a:rPr>
              <a:t>Linh hoạt — toàn bộ CTĐT được dữ liệu hóa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4332"/>
                </a:solidFill>
              </a:rPr>
              <a:t>Cá nhân hóa — gợi ý theo trạng thái từng sinh viên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4332"/>
                </a:solidFill>
              </a:rPr>
              <a:t>Bao phủ đầy đủ: tiên quyết, song hành, giới hạn TC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4332"/>
                </a:solidFill>
              </a:rPr>
              <a:t>Mở rộng sang ngành, trường khác không cần sửa code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645920"/>
            <a:ext cx="4160520" cy="3291840"/>
          </a:xfrm>
          <a:prstGeom prst="roundRect">
            <a:avLst>
              <a:gd name="adj" fmla="val 2778"/>
            </a:avLst>
          </a:prstGeom>
          <a:solidFill>
            <a:srgbClr val="FFF3E0"/>
          </a:solidFill>
          <a:ln w="6350">
            <a:solidFill>
              <a:srgbClr val="FFCC8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7373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4500"/>
                </a:solidFill>
              </a:rPr>
              <a:t>Hạn chế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28032" y="2157984"/>
            <a:ext cx="388620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C3A00"/>
                </a:solidFill>
              </a:rPr>
              <a:t>Chưa tích hợp học máy để dự báo kết quả học tập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C3A00"/>
                </a:solidFill>
              </a:rPr>
              <a:t>Cập nhật điểm số và CTĐT còn thủ công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C3A00"/>
                </a:solidFill>
              </a:rPr>
              <a:t>Chưa có ứng dụng di động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C3A00"/>
                </a:solidFill>
              </a:rPr>
              <a:t>Tập luật cần cập nhật khi quy định học vụ thay đổi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951"/>
                </a:solidFill>
              </a:rPr>
              <a:t>KẾT LUẬN VÀ HƯỚNG PHÁT TRIỂN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1170432"/>
          </a:xfrm>
          <a:prstGeom prst="roundRect">
            <a:avLst>
              <a:gd name="adj" fmla="val 7813"/>
            </a:avLst>
          </a:prstGeom>
          <a:solidFill>
            <a:srgbClr val="E3EEFF"/>
          </a:solidFill>
          <a:ln w="6350">
            <a:solidFill>
              <a:srgbClr val="A0C0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8412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7C"/>
                </a:solidFill>
              </a:rPr>
              <a:t>Kết luận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92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951"/>
                </a:solidFill>
              </a:rPr>
              <a:t>Đề tài hoàn thành mục tiêu: hệ thống hỗ trợ sinh viên CNTT theo dõi kết quả học tập, lập kế hoạch cá nhân hóa và nhận gợi ý môn học thông minh. Kiến trúc dựa trên dữ liệu cho phép mở rộng sang các ngành và cơ sở đào tạo khác không cần sửa code.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0299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951"/>
                </a:solidFill>
              </a:rPr>
              <a:t>Hướng phát triển tiếp theo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487168"/>
            <a:ext cx="41148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4E3F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770632"/>
            <a:ext cx="457200" cy="457200"/>
          </a:xfrm>
          <a:prstGeom prst="ellipse">
            <a:avLst/>
          </a:prstGeom>
          <a:solidFill>
            <a:srgbClr val="2E8BC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2578608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951"/>
                </a:solidFill>
              </a:rPr>
              <a:t>Tích hợp API hệ thống quản lý đào tạo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944368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A"/>
                </a:solidFill>
              </a:rPr>
              <a:t>Đồng bộ điểm và chương trình tự động, loại bỏ nhập liệu thủ công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487168"/>
            <a:ext cx="41148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4E3F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2770632"/>
            <a:ext cx="457200" cy="457200"/>
          </a:xfrm>
          <a:prstGeom prst="ellipse">
            <a:avLst/>
          </a:prstGeom>
          <a:solidFill>
            <a:srgbClr val="2E8BC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2578608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951"/>
                </a:solidFill>
              </a:rPr>
              <a:t>Bổ sung mô hình dự báo học tập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94960" y="2944368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A"/>
                </a:solidFill>
              </a:rPr>
              <a:t>Hồi quy / mạng nơ-ron dự báo khả năng hoàn thành học phần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675888"/>
            <a:ext cx="41148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4E3F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959352"/>
            <a:ext cx="457200" cy="457200"/>
          </a:xfrm>
          <a:prstGeom prst="ellipse">
            <a:avLst/>
          </a:prstGeom>
          <a:solidFill>
            <a:srgbClr val="2E8BC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3767328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951"/>
                </a:solidFill>
              </a:rPr>
              <a:t>Phát triển ứng dụng di động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4133088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A"/>
                </a:solidFill>
              </a:rPr>
              <a:t>Theo dõi kế hoạch và nhận cảnh báo học vụ mọi lúc, mọi nơi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3675888"/>
            <a:ext cx="41148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4E3F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3959352"/>
            <a:ext cx="457200" cy="457200"/>
          </a:xfrm>
          <a:prstGeom prst="ellipse">
            <a:avLst/>
          </a:prstGeom>
          <a:solidFill>
            <a:srgbClr val="2E8BC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94960" y="3767328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951"/>
                </a:solidFill>
              </a:rPr>
              <a:t>Mở rộng sang các ngành khác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94960" y="4133088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A"/>
                </a:solidFill>
              </a:rPr>
              <a:t>Nhập dữ liệu chương trình đào tạo của ngành khác để áp dụng ngay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2E8BC0">
              <a:alpha val="17000"/>
            </a:srgbClr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3291840"/>
            <a:ext cx="2194560" cy="2194560"/>
          </a:xfrm>
          <a:prstGeom prst="ellipse">
            <a:avLst/>
          </a:prstGeom>
          <a:solidFill>
            <a:srgbClr val="1E6FA5">
              <a:alpha val="22000"/>
            </a:srgbClr>
          </a:solidFill>
          <a:ln w="12700">
            <a:solidFill>
              <a:srgbClr val="1E6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XIN TRÂN TRỌNG CẢM ƠN!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AFD4"/>
                </a:solidFill>
              </a:rPr>
              <a:t>Xây dựng Hệ thống Tư vấn và Lập kế hoạch Học tập Cá nhân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8AAFD4"/>
                </a:solidFill>
              </a:rPr>
              <a:t>cho Sinh viên Ngành Công nghệ Thông tin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0" y="3218688"/>
            <a:ext cx="4572000" cy="0"/>
          </a:xfrm>
          <a:prstGeom prst="line">
            <a:avLst/>
          </a:prstGeom>
          <a:noFill/>
          <a:ln w="12700">
            <a:solidFill>
              <a:srgbClr val="2E8B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649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Nguyễn Văn Toàn  •  MSSV: 224074  •  DH22KPM02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8AAE"/>
                </a:solidFill>
              </a:rPr>
              <a:t>GVHD: ThS. Lê Thanh Trúc  |  Trường ĐH Nam Cần Thơ  |  Tháng 06/2026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Xây dựng hệ thống tư vấn và lập kế hoạch học tập cá nhân</dc:title>
  <dc:subject>PptxGenJS Presentation</dc:subject>
  <dc:creator>Nguyen Van Toan</dc:creator>
  <cp:lastModifiedBy>Nguyen Van Toan</cp:lastModifiedBy>
  <cp:revision>1</cp:revision>
  <dcterms:created xsi:type="dcterms:W3CDTF">2026-06-29T07:27:47Z</dcterms:created>
  <dcterms:modified xsi:type="dcterms:W3CDTF">2026-06-29T07:27:47Z</dcterms:modified>
</cp:coreProperties>
</file>